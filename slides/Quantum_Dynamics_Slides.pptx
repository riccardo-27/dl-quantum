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8015" autoAdjust="0"/>
  </p:normalViewPr>
  <p:slideViewPr>
    <p:cSldViewPr snapToGrid="0" snapToObjects="1">
      <p:cViewPr varScale="1">
        <p:scale>
          <a:sx n="43" d="100"/>
          <a:sy n="43" d="100"/>
        </p:scale>
        <p:origin x="1542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262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— Introduction:</a:t>
            </a:r>
          </a:p>
          <a:p>
            <a:r>
              <a:t>Welcome everyone. In this presentation we introduce our Deep Learning project on predicting the multi-step time evolution of a 10-qubit PXP Rydberg quantum chain using Recurrent and Transformer sequence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— Problem Statement &amp; Challenges:</a:t>
            </a:r>
          </a:p>
          <a:p>
            <a:r>
              <a:t>At the top we outline the physical motivation: the Hilbert space scales as 2^N, so we train a data-driven neural surrogate that forecasts 40 future steps across 55 observables, comparing Recurrent (M1, M2) and Transformer (M3, M4) families. At the bottom we summarize the three scientific challenges: 1) minimizing input window length T_in, 2) 2x temporal super-resolution, and 3) opening the black box via attention maps.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— Dataset &amp; Preprocessing:</a:t>
            </a:r>
          </a:p>
          <a:p>
            <a:r>
              <a:t>At the top are the 4 key dataset metrics: 400 trajectories, 55 physical observables, leak-free 280/60/60 trajectory split, and 0% quantum positivity violations. On the right we explain why we avoid Z-score standardization: preserving the native [-1, 1] physical scale with a tanh output head reduces validation MSE by 6.7% (2.17e-4 vs 2.32e-4).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— Architectural Roadmap:</a:t>
            </a:r>
          </a:p>
          <a:p>
            <a:r>
              <a:t>Here is our 5-stage architectural progression from left to right: 1) The 16-D Autoencoder introduces a reconstruction floor (3.62e-4), so we retain the native 55-D space. 2) M1 (One-Shot RNN) predicts all 40 steps at once without recursive drift, but compresses history into a single vector. 3) M2 (Seq2Seq RNN) decodes step-by-step but suffers from exposure bias. 4) M3 (Direct Transformer, highlighted in teal) is the overall winner (Test MSE = 1.21e-4). 5) M4 &amp; SR add causal cross-attention for interpretability and 2x super-resolution.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— Three-Phase Hybrid Training Curriculum:</a:t>
            </a:r>
          </a:p>
          <a:p>
            <a:r>
              <a:t>At the top are the 3 phases across 25 total epochs: Teacher Forcing (10 epochs), 15% Masked Modeling (10 epochs), and Scheduled Sampling (5 epochs). Bottom left shows the validation loss convergence; bottom right illustrates error accumulation across the 40 future steps, where one-shot M3 remains flat and bounded compared to the autoregressive rollout of M4.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— Hyperparameter Tuning &amp; Validation Protocol:</a:t>
            </a:r>
          </a:p>
          <a:p>
            <a:r>
              <a:t>On the left is our validation protocol: 24 full factorial trainings, true free-running checkpoint selection at every epoch, plus 3-seed stability and 5-Fold trajectory-level Cross-Validation. On the right are the winning hyperparameters: 64-unit LSTMs for the recurrent models, and the compact 1-layer Transformer (HP3, 196k params) for M3.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— Test Set Benchmark Results:</a:t>
            </a:r>
          </a:p>
          <a:p>
            <a:r>
              <a:t>The top 3 KPIs highlight M3 (HP3): Blind Test MSE = 1.21e-4, a 25% error reduction over the best RNN M1 (1.61e-4), and a 52% error reduction on single-qubit magnetizations (0.36e-4 vs 0.75e-4). The table clearly exposes the Seq2Seq exposure bias gap (from 2.70e-4 under Teacher Forcing to 3.96e-4 in Free-Running, vs 1.21e-4 for M3).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— Challenge 1 (Minimal Input Window):</a:t>
            </a:r>
          </a:p>
          <a:p>
            <a:r>
              <a:t>Comparing T_in = 5, 10, 20, 40 on strictly aligned future targets (t_0 &gt;= 40), the LSTM saturates beyond T_in = 20 (1.48e-4). The M3 Transformer outperforms the best RNN already at T_in = 5 (1.23e-4) and scales down to 1.11e-4 at T_in = 40. Selecting T_in = 10 (0.20 s) offers the optimal Pareto knee, cutting observation window length by 75%.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— Challenge 2 (2x Temporal Super-Resolution):</a:t>
            </a:r>
          </a:p>
          <a:p>
            <a:r>
              <a:t>On the left are the reconstruction plot and comparison table; on the right are the 3 key insights. Starting from 20 points sampled at dt = 0.04 s, M3-SR reconstructs all 40 dense future steps at dt = 0.02 s with Test MSE = 1.21e-4, even edging out the dense short window baseline (1.22e-4) thanks to its wider 0.76 s physical span.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— Challenge 3 (Attention Maps):</a:t>
            </a:r>
          </a:p>
          <a:p>
            <a:r>
              <a:t>On the left are the attention maps extracted from M4 on the test set; on the right is their physical interpretation. All 4 heads exhibit a strong recency gradient peaking (~0.16) on the latest observed steps to anchor state and velocity, while retaining non-vanishing weights (0.04–0.12) across earlier lags to estimate quantum-scar revival curvature. The 40x40 causal mask shows exact zero above the main diagonal.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— Blind Test Set &amp; Disaggregated Error Analysis:</a:t>
            </a:r>
          </a:p>
          <a:p>
            <a:r>
              <a:t>At the top are the 3 key physical insights, and at the bottom are the blind test figures. Notice how M3 accurately tracks the oscillation turning points, how single-qubit magnetization MSE is uniformly low across the chain (smallest at central qubits), and how pairwise correlations are 3.9x harder to predict than local magnetizations.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— Future Research Directions:</a:t>
            </a:r>
          </a:p>
          <a:p>
            <a:r>
              <a:t>We conclude with three future research extensions aligned with the report: 1) 3D Pareto Front (T_in, T_out, MSE) spanning horizons T_out in [20, 100]. 2) Closing the Seq2Seq exposure bias gap via soft sampling or multi-step rollout losses on M4 while preserving cross-attention interpretability. 3) Spatial Graph Neural Networks coupled with temporal self-attention to scale to 50–100 atom simulators.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for your attention! We are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051560"/>
            <a:ext cx="3931920" cy="384048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1247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 Semibold"/>
              </a:rPr>
              <a:t>DEEP LEARNING  ·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 Semibold"/>
              </a:rPr>
              <a:t>Qubit Evolution: Predicting
Quantum Dynamics with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38BDF8"/>
                </a:solidFill>
                <a:latin typeface="Segoe UI"/>
              </a:rPr>
              <a:t>Recurrent and Transformer Sequence Surrogates for the 10-Qubit PXP Rydberg 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206240"/>
            <a:ext cx="10424160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4526280"/>
            <a:ext cx="4754880" cy="123444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Segoe UI Semibold"/>
              </a:rPr>
              <a:t>AUTHORS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56048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Ernesto Gligora  ·  Riccardo Lavorato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4526280"/>
            <a:ext cx="5394960" cy="123444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46634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Segoe UI Semibold"/>
              </a:rPr>
              <a:t>INSTITUTION &amp;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95604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Artificial Intelligence and Computer Science
University of Calabria  —  A.Y.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Segoe UI Semibold"/>
              </a:rPr>
              <a:t>01 · MOTIVATION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9184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 Semibold"/>
              </a:rPr>
              <a:t>Problem Statement &amp; Forecasting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777240" cy="36576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Ernesto Gligora &amp; Riccardo Lavorato  |  Qubit Evolution: Predicting Quantum Dynamics with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Segoe UI"/>
              </a:rPr>
              <a:t>University of Calabria · A.Y. 2025/2026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553212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170432"/>
            <a:ext cx="91440" cy="187451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" y="1307592"/>
            <a:ext cx="51846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The Classical Simulation 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1636776"/>
            <a:ext cx="5184648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Segoe UI"/>
              </a:rPr>
              <a:t>▸ </a:t>
            </a:r>
            <a:r>
              <a:rPr sz="1300" b="1">
                <a:solidFill>
                  <a:srgbClr val="0F172A"/>
                </a:solidFill>
                <a:latin typeface="Segoe UI Semibold"/>
              </a:rPr>
              <a:t>Exponential Hilbert Space (2^N): </a:t>
            </a:r>
            <a:r>
              <a:rPr sz="1300">
                <a:solidFill>
                  <a:srgbClr val="0F172A"/>
                </a:solidFill>
                <a:latin typeface="Segoe UI"/>
              </a:rPr>
              <a:t>exact numerical integration becomes intractable as qubit count and horizon grow.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Segoe UI"/>
              </a:rPr>
              <a:t>▸ </a:t>
            </a:r>
            <a:r>
              <a:rPr sz="1300" b="1">
                <a:solidFill>
                  <a:srgbClr val="0F172A"/>
                </a:solidFill>
                <a:latin typeface="Segoe UI Semibold"/>
              </a:rPr>
              <a:t>Data-Driven Surrogate: </a:t>
            </a:r>
            <a:r>
              <a:rPr sz="1300">
                <a:solidFill>
                  <a:srgbClr val="0F172A"/>
                </a:solidFill>
                <a:latin typeface="Segoe UI"/>
              </a:rPr>
              <a:t>learn the dynamical evolution of N = 10 interacting Rydberg qubits directly from observable trajectories.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70432"/>
            <a:ext cx="5559552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170432"/>
            <a:ext cx="91440" cy="18745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1307592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Unified Forecasting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1636776"/>
            <a:ext cx="521208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▸ </a:t>
            </a:r>
            <a:r>
              <a:rPr sz="1300" b="1">
                <a:solidFill>
                  <a:srgbClr val="0F172A"/>
                </a:solidFill>
                <a:latin typeface="Segoe UI Semibold"/>
              </a:rPr>
              <a:t>55 Physical Observables: </a:t>
            </a:r>
            <a:r>
              <a:rPr sz="1300">
                <a:solidFill>
                  <a:srgbClr val="0F172A"/>
                </a:solidFill>
                <a:latin typeface="Segoe UI"/>
              </a:rPr>
              <a:t>forecast T_out = 40 future steps (0.80 s) of 10 magnetizations and 45 pairwise correlations.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▸ </a:t>
            </a:r>
            <a:r>
              <a:rPr sz="1300" b="1">
                <a:solidFill>
                  <a:srgbClr val="0F172A"/>
                </a:solidFill>
                <a:latin typeface="Segoe UI Semibold"/>
              </a:rPr>
              <a:t>Two Model Families: </a:t>
            </a:r>
            <a:r>
              <a:rPr sz="1300">
                <a:solidFill>
                  <a:srgbClr val="0F172A"/>
                </a:solidFill>
                <a:latin typeface="Segoe UI"/>
              </a:rPr>
              <a:t>systematic 24-model benchmark comparing Recurrent (M1, M2) and Transformer (M3, M4) architectures.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291840"/>
            <a:ext cx="3685032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3291840"/>
            <a:ext cx="3685032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3364992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 Semibold"/>
              </a:rPr>
              <a:t>CHALLENGE 01 · CONTEXT 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840480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0B192C"/>
                </a:solidFill>
                <a:latin typeface="Segoe UI Semibold"/>
              </a:rPr>
              <a:t>Minimize Input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15968"/>
            <a:ext cx="33375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Segoe UI"/>
              </a:rPr>
              <a:t>Find the shortest history T_in ∈ {5, 10, 20, 40} that preserves multi-step forecast accuracy on strictly aligned future targets.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291840"/>
            <a:ext cx="3685032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60" y="3291840"/>
            <a:ext cx="3685032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3364992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 Semibold"/>
              </a:rPr>
              <a:t>CHALLENGE 02 · TEMPORAL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840480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0B192C"/>
                </a:solidFill>
                <a:latin typeface="Segoe UI Semibold"/>
              </a:rPr>
              <a:t>2× Super-Resolution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315968"/>
            <a:ext cx="33375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Segoe UI"/>
              </a:rPr>
              <a:t>Reconstruct dense future trajectories (Δt = 0.02 s, 40 steps) starting from a 2× coarser input window (Δt = 0.04 s, 20 steps).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291840"/>
            <a:ext cx="3685032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92440" y="3291840"/>
            <a:ext cx="3685032" cy="384048"/>
          </a:xfrm>
          <a:prstGeom prst="rect">
            <a:avLst/>
          </a:prstGeom>
          <a:solidFill>
            <a:srgbClr val="16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57031" y="3364992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 Semibold"/>
              </a:rPr>
              <a:t>CHALLENGE 03 · EXPLAINABILITY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840480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0B192C"/>
                </a:solidFill>
                <a:latin typeface="Segoe UI Semibold"/>
              </a:rPr>
              <a:t>Attention Interpretability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4315968"/>
            <a:ext cx="33375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Segoe UI"/>
              </a:rPr>
              <a:t>Extract decoder cross-attention and causal self-attention maps to explain how the network tracks quantum many-body scars.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Segoe UI Semibold"/>
              </a:rPr>
              <a:t>02 · DATA &amp; PHYSICS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9184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 Semibold"/>
              </a:rPr>
              <a:t>Dataset, Normalization &amp; Windowing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777240" cy="36576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3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Ernesto Gligora &amp; Riccardo Lavorato  |  Qubit Evolution: Predicting Quantum Dynamics with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Segoe UI"/>
              </a:rPr>
              <a:t>University of Calabria · A.Y. 2025/2026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15568"/>
            <a:ext cx="2670048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115568"/>
            <a:ext cx="2670048" cy="64008"/>
          </a:xfrm>
          <a:prstGeom prst="rect">
            <a:avLst/>
          </a:prstGeom>
          <a:solidFill>
            <a:srgbClr val="16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1225295"/>
            <a:ext cx="24505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162F4B"/>
                </a:solidFill>
                <a:latin typeface="Segoe UI Semibold"/>
              </a:rPr>
              <a:t>400 Trajectories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09344"/>
            <a:ext cx="248716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1,001 steps each (Δt = 0.02 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115568"/>
            <a:ext cx="2670048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0128" y="1115568"/>
            <a:ext cx="267004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9856" y="1225295"/>
            <a:ext cx="24505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Segoe UI Semibold"/>
              </a:rPr>
              <a:t>D = 55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609344"/>
            <a:ext cx="248716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10 Mag ⟨σ_z^i⟩ + 45 Corr ⟨σ_z^i σ_z^j⟩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115568"/>
            <a:ext cx="2670048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08776" y="1115568"/>
            <a:ext cx="2670048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18504" y="1225295"/>
            <a:ext cx="24505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1D4ED8"/>
                </a:solidFill>
                <a:latin typeface="Segoe UI Semibold"/>
              </a:rPr>
              <a:t>280 / 60 / 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609344"/>
            <a:ext cx="248716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Leak-free trajectory-level split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07424" y="1115568"/>
            <a:ext cx="2670048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07424" y="1115568"/>
            <a:ext cx="267004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17152" y="1225295"/>
            <a:ext cx="24505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Segoe UI Semibold"/>
              </a:rPr>
              <a:t>0.0% Violations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1609344"/>
            <a:ext cx="248716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Quantum positivity P(s_i, s_j) ≥ 0.155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2084831"/>
            <a:ext cx="5715000" cy="20848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tin_grid_comparis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885" y="2157984"/>
            <a:ext cx="2182188" cy="1627631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29768" y="3858768"/>
            <a:ext cx="5678424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8" y="3895344"/>
            <a:ext cx="549554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  <a:latin typeface="Segoe UI"/>
              </a:rPr>
              <a:t>Aligned sliding-window extraction across input histories T_in ∈ {5, 10, 20, 40}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279392"/>
            <a:ext cx="5715000" cy="20848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normalization_loss_curv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4373062"/>
            <a:ext cx="5568696" cy="1586594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29768" y="6053327"/>
            <a:ext cx="5678424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8" y="6089903"/>
            <a:ext cx="549554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  <a:latin typeface="Segoe UI"/>
              </a:rPr>
              <a:t>3-seed validation loss ablation: raw physical scale (tanh) vs. Z-score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2084831"/>
            <a:ext cx="5468112" cy="20848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2084831"/>
            <a:ext cx="91440" cy="208483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28816" y="2221991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Why Raw Physical Scale Beats Z-Score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816" y="2551175"/>
            <a:ext cx="512064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▸ </a:t>
            </a:r>
            <a:r>
              <a:rPr sz="1300" b="1">
                <a:solidFill>
                  <a:srgbClr val="0F172A"/>
                </a:solidFill>
                <a:latin typeface="Segoe UI Semibold"/>
              </a:rPr>
              <a:t>Bounded Observables [−1, 1]: </a:t>
            </a:r>
            <a:r>
              <a:rPr sz="1300">
                <a:solidFill>
                  <a:srgbClr val="0F172A"/>
                </a:solidFill>
                <a:latin typeface="Segoe UI"/>
              </a:rPr>
              <a:t>Pauli expectation values are naturally bounded, matching a tanh output head.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▸ </a:t>
            </a:r>
            <a:r>
              <a:rPr sz="1300" b="1">
                <a:solidFill>
                  <a:srgbClr val="0F172A"/>
                </a:solidFill>
                <a:latin typeface="Segoe UI Semibold"/>
              </a:rPr>
              <a:t>3-Seed Ablation Winner: </a:t>
            </a:r>
            <a:r>
              <a:rPr sz="1300">
                <a:solidFill>
                  <a:srgbClr val="0F172A"/>
                </a:solidFill>
                <a:latin typeface="Segoe UI"/>
              </a:rPr>
              <a:t>raw data + tanh achieves Val MSE = 2.17e-4 vs. 2.32e-4 with Z-score (−6.7% error), because Z-score amplifies noise in low-variance long-range correlations.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279392"/>
            <a:ext cx="5468112" cy="20848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60" y="4279392"/>
            <a:ext cx="91440" cy="2084831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28816" y="4416552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Sliding Window Protocols (Stride s = 10)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4745736"/>
            <a:ext cx="5120640" cy="1508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Segoe UI"/>
              </a:rPr>
              <a:t>▸ </a:t>
            </a:r>
            <a:r>
              <a:rPr sz="1300" b="1">
                <a:solidFill>
                  <a:srgbClr val="0F172A"/>
                </a:solidFill>
                <a:latin typeface="Segoe UI Semibold"/>
              </a:rPr>
              <a:t>Canonical Benchmark: </a:t>
            </a:r>
            <a:r>
              <a:rPr sz="1300">
                <a:solidFill>
                  <a:srgbClr val="0F172A"/>
                </a:solidFill>
                <a:latin typeface="Segoe UI"/>
              </a:rPr>
              <a:t>short window (T_in = 10 → 26,880 train windows) and long window (T_in = 20 → 26,600 train windows) predicting T_out = 40 steps.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Segoe UI"/>
              </a:rPr>
              <a:t>▸ </a:t>
            </a:r>
            <a:r>
              <a:rPr sz="1300" b="1">
                <a:solidFill>
                  <a:srgbClr val="0F172A"/>
                </a:solidFill>
                <a:latin typeface="Segoe UI Semibold"/>
              </a:rPr>
              <a:t>Aligned Challenge 1 Grid: </a:t>
            </a:r>
            <a:r>
              <a:rPr sz="1300">
                <a:solidFill>
                  <a:srgbClr val="0F172A"/>
                </a:solidFill>
                <a:latin typeface="Segoe UI"/>
              </a:rPr>
              <a:t>all target windows anchored at t_0 ≥ 40 (5,580 test windows) for bias-free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Segoe UI Semibold"/>
              </a:rPr>
              <a:t>03 · ARCHITECTURAL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9184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 Semibold"/>
              </a:rPr>
              <a:t>Model Roadmap: From Latent Pilot to Transformers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777240" cy="36576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4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Ernesto Gligora &amp; Riccardo Lavorato  |  Qubit Evolution: Predicting Quantum Dynamics with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Segoe UI"/>
              </a:rPr>
              <a:t>University of Calabria · A.Y. 2025/2026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2176272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2176272" cy="402336"/>
          </a:xfrm>
          <a:prstGeom prst="rect">
            <a:avLst/>
          </a:prstGeom>
          <a:solidFill>
            <a:srgbClr val="16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1399032"/>
            <a:ext cx="19568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 Semibold"/>
              </a:rPr>
              <a:t>STEP 1 ·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874519"/>
            <a:ext cx="192023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B192C"/>
                </a:solidFill>
                <a:latin typeface="Segoe UI Semibold"/>
              </a:rPr>
              <a:t>16-D Autoencoder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" y="2377440"/>
            <a:ext cx="1920239" cy="777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" y="2468880"/>
            <a:ext cx="184708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 i="0">
                <a:solidFill>
                  <a:srgbClr val="162F4B"/>
                </a:solidFill>
                <a:latin typeface="Segoe UI Semibold"/>
              </a:rPr>
              <a:t>55 → 16 → 55 AE +
Latent Transformer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3337560"/>
            <a:ext cx="1883664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Cuts parameters by 60.5%, but the AE reconstruction floor (3.62e-4) limits accuracy.
→ Native 55-D space kept.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5768" y="1325880"/>
            <a:ext cx="2176272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15768" y="1325880"/>
            <a:ext cx="2176272" cy="40233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25496" y="1399032"/>
            <a:ext cx="19568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 Semibold"/>
              </a:rPr>
              <a:t>STEP 2 · RNN DIRECT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3784" y="1874519"/>
            <a:ext cx="192023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B192C"/>
                </a:solidFill>
                <a:latin typeface="Segoe UI Semibold"/>
              </a:rPr>
              <a:t>M1 One-Shot RNN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43784" y="2377440"/>
            <a:ext cx="1920239" cy="777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0360" y="2468880"/>
            <a:ext cx="184708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 i="0">
                <a:solidFill>
                  <a:srgbClr val="1D4ED8"/>
                </a:solidFill>
                <a:latin typeface="Segoe UI Semibold"/>
              </a:rPr>
              <a:t>Stacked LSTM / GRU +
Dense(40 × 55, tanh)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3337560"/>
            <a:ext cx="1883664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Predicts all 40 future steps in one shot with zero recursive drift.
→ Limit: compresses past into one vector h_Tin.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0056" y="1325880"/>
            <a:ext cx="2176272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0056" y="1325880"/>
            <a:ext cx="2176272" cy="40233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9784" y="1399032"/>
            <a:ext cx="19568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 Semibold"/>
              </a:rPr>
              <a:t>STEP 3 · RNN SEQ2SEQ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8072" y="1874519"/>
            <a:ext cx="192023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B192C"/>
                </a:solidFill>
                <a:latin typeface="Segoe UI Semibold"/>
              </a:rPr>
              <a:t>M2 Autoregressive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8072" y="2377440"/>
            <a:ext cx="1920239" cy="777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84648" y="2468880"/>
            <a:ext cx="184708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 i="0">
                <a:solidFill>
                  <a:srgbClr val="1D4ED8"/>
                </a:solidFill>
                <a:latin typeface="Segoe UI Semibold"/>
              </a:rPr>
              <a:t>Encoder–Decoder RNN
with (h, c) Transfer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3337560"/>
            <a:ext cx="1883664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Generates step-by-step closed-loop predictions.
→ Limit: fixed-vector bottleneck + exposure bias.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24344" y="1325880"/>
            <a:ext cx="2176272" cy="489204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24344" y="1325880"/>
            <a:ext cx="2176272" cy="4023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34071" y="1399032"/>
            <a:ext cx="19568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 Semibold"/>
              </a:rPr>
              <a:t>STEP 4 · WINNER 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1874519"/>
            <a:ext cx="192023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B192C"/>
                </a:solidFill>
                <a:latin typeface="Segoe UI Semibold"/>
              </a:rPr>
              <a:t>M3 Direct TRN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2377440"/>
            <a:ext cx="1920239" cy="777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88936" y="2468880"/>
            <a:ext cx="184708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 i="0">
                <a:solidFill>
                  <a:srgbClr val="0D9488"/>
                </a:solidFill>
                <a:latin typeface="Segoe UI Semibold"/>
              </a:rPr>
              <a:t>Global Self-Attention +
One-Shot tanh 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8" y="3337560"/>
            <a:ext cx="1883664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Best overall accuracy (Test MSE = 1.21e-4, −25% vs. M1). Combines full past attention with drift-free projection.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28632" y="1325880"/>
            <a:ext cx="2176272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628632" y="1325880"/>
            <a:ext cx="2176272" cy="4023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38359" y="1399032"/>
            <a:ext cx="19568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 Semibold"/>
              </a:rPr>
              <a:t>STEP 5 · EXPLAIN &amp; SR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648" y="1874519"/>
            <a:ext cx="192023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B192C"/>
                </a:solidFill>
                <a:latin typeface="Segoe UI Semibold"/>
              </a:rPr>
              <a:t>M4 Seq2Seq &amp; SR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56648" y="2377440"/>
            <a:ext cx="1920239" cy="777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93224" y="2468880"/>
            <a:ext cx="184708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 i="0">
                <a:solidFill>
                  <a:srgbClr val="0D9488"/>
                </a:solidFill>
                <a:latin typeface="Segoe UI Semibold"/>
              </a:rPr>
              <a:t>Causal Decoder + Cross-Attn
&amp; 2× Super-Resolution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74936" y="3337560"/>
            <a:ext cx="1883664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Unlocks 40 × 10 cross-attention heatmaps (Challenge 3) and reconstructs dense Δt = 0.02 s trajectories.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Segoe UI Semibold"/>
              </a:rPr>
              <a:t>04 · OPTIMIZATION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9184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 Semibold"/>
              </a:rPr>
              <a:t>Three-Phase Hybrid Training Curriculum (25 Epochs)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777240" cy="36576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5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Ernesto Gligora &amp; Riccardo Lavorato  |  Qubit Evolution: Predicting Quantum Dynamics with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Segoe UI"/>
              </a:rPr>
              <a:t>University of Calabria · A.Y. 2025/2026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36850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3685032" cy="329184"/>
          </a:xfrm>
          <a:prstGeom prst="rect">
            <a:avLst/>
          </a:prstGeom>
          <a:solidFill>
            <a:srgbClr val="16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" y="1188720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PHASE 1 · EPOCHS 1–10 (10 EP)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1536192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Teacher Forcing (p_ss = 0.0)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1865376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Unmasked encoder input; Seq2Seq decoders receive ground-truth shifted targets.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143000"/>
            <a:ext cx="36850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1143000"/>
            <a:ext cx="3685032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98264" y="1188720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PHASE 2 · EPOCHS 11–20 (10 EP)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1536192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Masked Modeling (p_mask = 0.15)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1865376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Randomly zeroes 15% of input steps (preserving anchor t_0) to enforce non-local temporal interpolation.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143000"/>
            <a:ext cx="36850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1143000"/>
            <a:ext cx="3685032" cy="3291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38744" y="1188720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PHASE 3 · EPOCHS 21–25 (5 EP)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1536192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Scheduled Sampling (p_ss: 0 → 0.5)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1865376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Two-pass parallel sampling mixes self-generated predictions into Seq2Seq decoders to mitigate open-loop drift.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999232"/>
            <a:ext cx="553212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loss_curves_hybri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720722"/>
            <a:ext cx="5385816" cy="158368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29768" y="6025896"/>
            <a:ext cx="5495544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1208" y="6062472"/>
            <a:ext cx="53126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  <a:latin typeface="Segoe UI"/>
              </a:rPr>
              <a:t>Validation MSE across the 3-phase curriculum (M3 Direct vs. M4 Seq2Seq)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999232"/>
            <a:ext cx="5559552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ree_running_error_accumulatio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337230"/>
            <a:ext cx="5413248" cy="2350666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236207" y="6025896"/>
            <a:ext cx="5522976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7648" y="6062472"/>
            <a:ext cx="534009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  <a:latin typeface="Segoe UI"/>
              </a:rPr>
              <a:t>Horizon error accumulation: Teacher Forcing vs. Free-Running M4 vs. One-Shot M3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Segoe UI Semibold"/>
              </a:rPr>
              <a:t>05 · EXPERIMENTAL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9184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 Semibold"/>
              </a:rPr>
              <a:t>Factorial Hyperparameter Grid &amp; Validation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777240" cy="36576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6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Ernesto Gligora &amp; Riccardo Lavorato  |  Qubit Evolution: Predicting Quantum Dynamics with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Segoe UI"/>
              </a:rPr>
              <a:t>University of Calabria · A.Y. 2025/2026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51663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170432"/>
            <a:ext cx="91440" cy="1600200"/>
          </a:xfrm>
          <a:prstGeom prst="rect">
            <a:avLst/>
          </a:prstGeom>
          <a:solidFill>
            <a:srgbClr val="16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" y="1307592"/>
            <a:ext cx="48188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24-Model Full Factorial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1636776"/>
            <a:ext cx="48188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4 architectures (M1–M4) × 3 capacity configurations (HP1, HP2, HP3) × 2 input windows (short, long) = 24 full trainings.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926080"/>
            <a:ext cx="51663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" y="2926080"/>
            <a:ext cx="91440" cy="1600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" y="3063240"/>
            <a:ext cx="48188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True Free-Running Model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392424"/>
            <a:ext cx="48188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Validation MSE is evaluated at every epoch in unassisted inference mode, restoring the best free-running checkpoint.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681728"/>
            <a:ext cx="51663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4681728"/>
            <a:ext cx="91440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" y="4818888"/>
            <a:ext cx="48188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3-Seed &amp; 5-Fold Cross-Validation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5148072"/>
            <a:ext cx="4818888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Top models verified across seeds 42/43/44 and 5 trajectory-level folds (340 dev trajectories: 272 train / 68 val per fold).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1170432"/>
            <a:ext cx="5925312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52160" y="1170432"/>
            <a:ext cx="5925312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0" y="1225296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 Semibold"/>
              </a:rPr>
              <a:t>RECURRENT FAMILY WINNERS (M1: HP1  |  M2: HP2)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60934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Recurrent Cell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1609344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50" b="1" i="0">
                <a:solidFill>
                  <a:srgbClr val="0F172A"/>
                </a:solidFill>
                <a:latin typeface="Segoe UI Semibold"/>
              </a:rPr>
              <a:t>LSTM (outperforms GRU)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956816"/>
            <a:ext cx="5559552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0" y="199339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Hidden Units (d_rnn)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993392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50" b="1" i="0">
                <a:solidFill>
                  <a:srgbClr val="0F172A"/>
                </a:solidFill>
                <a:latin typeface="Segoe UI Semibold"/>
              </a:rPr>
              <a:t>64 units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340864"/>
            <a:ext cx="5559552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35040" y="237744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Stacked Layers (L)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377440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50" b="1" i="0">
                <a:solidFill>
                  <a:srgbClr val="0F172A"/>
                </a:solidFill>
                <a:latin typeface="Segoe UI Semibold"/>
              </a:rPr>
              <a:t>1 layer (M1)  /  2 layers (M2)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724912"/>
            <a:ext cx="5559552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0" y="276148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Dropout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761488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50" b="1" i="0">
                <a:solidFill>
                  <a:srgbClr val="0F172A"/>
                </a:solidFill>
                <a:latin typeface="Segoe UI Semibold"/>
              </a:rPr>
              <a:t>0.0 (M1)  /  0.10 (M2)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108960"/>
            <a:ext cx="5559552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35040" y="3145536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Optimizer &amp; LR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145536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50" b="1" i="0">
                <a:solidFill>
                  <a:srgbClr val="0F172A"/>
                </a:solidFill>
                <a:latin typeface="Segoe UI Semibold"/>
              </a:rPr>
              <a:t>Adam (lr = 1e-3, batch = 64)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3822191"/>
            <a:ext cx="5925312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852160" y="3822191"/>
            <a:ext cx="5925312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35040" y="3877055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 Semibold"/>
              </a:rPr>
              <a:t>TRANSFORMER FAMILY WINNERS (M3: HP3 ★  |  M4: HP1)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426110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Embedding Dim (d_model)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261104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50" b="1" i="0">
                <a:solidFill>
                  <a:srgbClr val="0F172A"/>
                </a:solidFill>
                <a:latin typeface="Segoe UI Semibold"/>
              </a:rPr>
              <a:t>64 (all winning configs)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4608576"/>
            <a:ext cx="5559552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35040" y="464515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Attention Heads (H)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645152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50" b="1" i="0">
                <a:solidFill>
                  <a:srgbClr val="0F172A"/>
                </a:solidFill>
                <a:latin typeface="Segoe UI Semibold"/>
              </a:rPr>
              <a:t>2 heads (M3)  /  4 heads (M4)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992624"/>
            <a:ext cx="5559552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35040" y="502920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Encoder/Decoder Blocks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5029200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50" b="1" i="0">
                <a:solidFill>
                  <a:srgbClr val="0F172A"/>
                </a:solidFill>
                <a:latin typeface="Segoe UI Semibold"/>
              </a:rPr>
              <a:t>1 block (M3, 196k params)  /  2 (M4)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5376672"/>
            <a:ext cx="5559552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35040" y="541324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Feed-Forward Dim (d_ff)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5413248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50" b="1" i="0">
                <a:solidFill>
                  <a:srgbClr val="0F172A"/>
                </a:solidFill>
                <a:latin typeface="Segoe UI Semibold"/>
              </a:rPr>
              <a:t>128 (2 × d_model)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5760720"/>
            <a:ext cx="5559552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35040" y="5797296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Optimizer &amp; LR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5797296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50" b="1" i="0">
                <a:solidFill>
                  <a:srgbClr val="0F172A"/>
                </a:solidFill>
                <a:latin typeface="Segoe UI Semibold"/>
              </a:rPr>
              <a:t>Adam (lr = 1e-3, batch = 64)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Segoe UI Semibold"/>
              </a:rPr>
              <a:t>06 · 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9184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 Semibold"/>
              </a:rPr>
              <a:t>Test Set Performance &amp; Exposure Bias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777240" cy="36576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7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Ernesto Gligora &amp; Riccardo Lavorato  |  Qubit Evolution: Predicting Quantum Dynamics with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Segoe UI"/>
              </a:rPr>
              <a:t>University of Calabria · A.Y. 2025/2026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15568"/>
            <a:ext cx="361188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115568"/>
            <a:ext cx="36118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1225295"/>
            <a:ext cx="33924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Segoe UI Semibold"/>
              </a:rPr>
              <a:t>1.21 × 10⁻⁴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09344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Best Blind Test MSE — M3 (HP3)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115568"/>
            <a:ext cx="361188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9392" y="1115568"/>
            <a:ext cx="361188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1225295"/>
            <a:ext cx="33924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1D4ED8"/>
                </a:solidFill>
                <a:latin typeface="Segoe UI Semibold"/>
              </a:rPr>
              <a:t>−24.9%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1" y="1609344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M3 Transformer vs. Best RNN (M1)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115568"/>
            <a:ext cx="362102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56448" y="1115568"/>
            <a:ext cx="3621024" cy="64008"/>
          </a:xfrm>
          <a:prstGeom prst="rect">
            <a:avLst/>
          </a:prstGeom>
          <a:solidFill>
            <a:srgbClr val="16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5" y="1225295"/>
            <a:ext cx="34015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162F4B"/>
                </a:solidFill>
                <a:latin typeface="Segoe UI Semibold"/>
              </a:rPr>
              <a:t>0.36 × 10⁻⁴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1609344"/>
            <a:ext cx="343814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Single-Qubit Mag MSE (−52% vs. M1)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11480" y="2121408"/>
          <a:ext cx="1136599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ARCHITECTURE</a:t>
                      </a:r>
                    </a:p>
                  </a:txBody>
                  <a:tcPr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VAL MSE (SHORT, 3 SEEDS)</a:t>
                      </a:r>
                    </a:p>
                  </a:txBody>
                  <a:tcPr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VAL MSE (LONG)</a:t>
                      </a:r>
                    </a:p>
                  </a:txBody>
                  <a:tcPr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5-FOLD CV MSE</a:t>
                      </a:r>
                    </a:p>
                  </a:txBody>
                  <a:tcPr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BLIND TEST MSE</a:t>
                      </a:r>
                    </a:p>
                  </a:txBody>
                  <a:tcPr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 Semibold"/>
                        </a:rPr>
                        <a:t>INFERENCE REGIME</a:t>
                      </a:r>
                    </a:p>
                  </a:txBody>
                  <a:tcPr anchor="ctr"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Persistence baseline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6.21e-4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Constant last-step copy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M1 (LSTM direct, HP1)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1.61e-4 ± 0.00e-4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1.47e-4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1.60e-4 ± 0.02e-4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1.61e-4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One-shot (no recursive drift)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M2 (LSTM seq2seq, HP2)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2.66e-4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2.42e-4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Autoregressive closed-loop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92C"/>
                          </a:solidFill>
                          <a:latin typeface="Segoe UI Semibold"/>
                        </a:rPr>
                        <a:t>M3 (Transformer direct, HP3) ★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92C"/>
                          </a:solidFill>
                          <a:latin typeface="Segoe UI Semibold"/>
                        </a:rPr>
                        <a:t>1.21e-4 ± 0.01e-4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92C"/>
                          </a:solidFill>
                          <a:latin typeface="Segoe UI Semibold"/>
                        </a:rPr>
                        <a:t>1.21e-4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92C"/>
                          </a:solidFill>
                          <a:latin typeface="Segoe UI Semibold"/>
                        </a:rPr>
                        <a:t>1.20e-4 ± 0.02e-4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92C"/>
                          </a:solidFill>
                          <a:latin typeface="Segoe UI Semibold"/>
                        </a:rPr>
                        <a:t>1.21e-4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92C"/>
                          </a:solidFill>
                          <a:latin typeface="Segoe UI Semibold"/>
                        </a:rPr>
                        <a:t>One-shot (−25% error vs. M1)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M4 (Transformer seq2seq, HP1)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3.96e-4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3.38e-4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TF 2.70e-4 → Free-Run 3.96e-4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11480" y="5440680"/>
            <a:ext cx="11365992" cy="896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5440680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" y="5577840"/>
            <a:ext cx="11018519" cy="6492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Key Takeaway — Eliminating Exposure Bias: </a:t>
            </a:r>
            <a:r>
              <a:rPr sz="1300">
                <a:solidFill>
                  <a:srgbClr val="0F172A"/>
                </a:solidFill>
                <a:latin typeface="Segoe UI"/>
              </a:rPr>
              <a:t>In Seq2Seq M4, Free-Running errors (3.96e-4) exceed Teacher Forcing (2.70e-4) by 1.47× and M3 (1.21e-4) by 3.3×. One-shot M3 projects all 40 steps simultaneously from globally attended tokens and wins on every split.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Segoe UI Semibold"/>
              </a:rPr>
              <a:t>07 · CHALLENGE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9184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 Semibold"/>
              </a:rPr>
              <a:t>Minimizing the Historical Observation Window (T_in)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777240" cy="36576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8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Ernesto Gligora &amp; Riccardo Lavorato  |  Qubit Evolution: Predicting Quantum Dynamics with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Segoe UI"/>
              </a:rPr>
              <a:t>University of Calabria · A.Y. 2025/2026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36850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3685032" cy="82296"/>
          </a:xfrm>
          <a:prstGeom prst="rect">
            <a:avLst/>
          </a:prstGeom>
          <a:solidFill>
            <a:srgbClr val="16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33192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192C"/>
                </a:solidFill>
                <a:latin typeface="Segoe UI Semibold"/>
              </a:rPr>
              <a:t>Strictly Aligned Targets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36776"/>
            <a:ext cx="331927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20">
                <a:solidFill>
                  <a:srgbClr val="475569"/>
                </a:solidFill>
                <a:latin typeface="Segoe UI"/>
              </a:rPr>
              <a:t>All target windows anchored at t_0 ≥ 40 (5,580 test segments) so every T_in ∈ {5, 10, 20, 40} predicts identical future intervals.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143000"/>
            <a:ext cx="36850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143000"/>
            <a:ext cx="3685032" cy="822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307592"/>
            <a:ext cx="33192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192C"/>
                </a:solidFill>
                <a:latin typeface="Segoe UI Semibold"/>
              </a:rPr>
              <a:t>LSTM Saturation at T_in =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636776"/>
            <a:ext cx="331927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20">
                <a:solidFill>
                  <a:srgbClr val="475569"/>
                </a:solidFill>
                <a:latin typeface="Segoe UI"/>
              </a:rPr>
              <a:t>M1 improves from T_in = 5 (1.72e-4) to T_in = 20 (1.48e-4), then saturates completely at T_in = 40 due to fixed-vector compression.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143000"/>
            <a:ext cx="36850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143000"/>
            <a:ext cx="368503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1307592"/>
            <a:ext cx="33192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192C"/>
                </a:solidFill>
                <a:latin typeface="Segoe UI Semibold"/>
              </a:rPr>
              <a:t>Optimal Knee: T_in = 10 (0.20 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1636776"/>
            <a:ext cx="331927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20">
                <a:solidFill>
                  <a:srgbClr val="475569"/>
                </a:solidFill>
                <a:latin typeface="Segoe UI"/>
              </a:rPr>
              <a:t>M3 beats the best RNN already at T_in = 5 (1.23e-4) and scales to 1.11e-4 at T_in = 40. T_in = 10 cuts readout latency by 75%.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999232"/>
            <a:ext cx="553212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hallenges_1_2_comparis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637251"/>
            <a:ext cx="5385816" cy="175062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29768" y="6025896"/>
            <a:ext cx="5495544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" y="6062472"/>
            <a:ext cx="53126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  <a:latin typeface="Segoe UI"/>
              </a:rPr>
              <a:t>Aligned-target MSE scaling across T_in ∈ {5, 10, 20, 40} (left) and Challenge 2 summary (right)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999232"/>
            <a:ext cx="5559552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global_benchmark_summar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371122"/>
            <a:ext cx="5413248" cy="228288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36207" y="6025896"/>
            <a:ext cx="5522976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6062472"/>
            <a:ext cx="534009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  <a:latin typeface="Segoe UI"/>
              </a:rPr>
              <a:t>24-model factorial benchmark across all four families (short T_in = 10 vs. long T_in = 20)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Segoe UI Semibold"/>
              </a:rPr>
              <a:t>08 · CHALLENGE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9184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 Semibold"/>
              </a:rPr>
              <a:t>Temporal Super-Resolution (×2: Δt = 0.04 s → 0.02 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777240" cy="36576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9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Ernesto Gligora &amp; Riccardo Lavorato  |  Qubit Evolution: Predicting Quantum Dynamics with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Segoe UI"/>
              </a:rPr>
              <a:t>University of Calabria · A.Y. 2025/2026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626364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llenge2_super_resoluti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08985"/>
            <a:ext cx="6117336" cy="187523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29768" y="3922776"/>
            <a:ext cx="6227064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3959352"/>
            <a:ext cx="60441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  <a:latin typeface="Segoe UI"/>
              </a:rPr>
              <a:t>M3-SR dense reconstruction from 2× subsampled input (left) and horizon error curve (right)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11480" y="4389120"/>
          <a:ext cx="62636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OBSERVATION REGIME</a:t>
                      </a:r>
                    </a:p>
                  </a:txBody>
                  <a:tcPr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Δt_in</a:t>
                      </a:r>
                    </a:p>
                  </a:txBody>
                  <a:tcPr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TEST MSE</a:t>
                      </a:r>
                    </a:p>
                  </a:txBody>
                  <a:tcPr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TEST MAE</a:t>
                      </a:r>
                    </a:p>
                  </a:txBody>
                  <a:tcPr anchor="ctr"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Segoe UI Semibold"/>
                        </a:rPr>
                        <a:t>M3-SR (×2 subsampled, 20 pts) ★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Segoe UI Semibold"/>
                        </a:rPr>
                        <a:t>0.04 s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Segoe UI Semibold"/>
                        </a:rPr>
                        <a:t>1.21 × 10⁻⁴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Segoe UI Semibold"/>
                        </a:rPr>
                        <a:t>0.00788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M3 Native Upper Bound (39 pts)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0.02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1.10 × 10⁻⁴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0.00754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M3 Standard short (10 pts)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0.02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1.22 × 10⁻⁴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0.00789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903720" y="1170432"/>
            <a:ext cx="487375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03720" y="1170432"/>
            <a:ext cx="91440" cy="1600200"/>
          </a:xfrm>
          <a:prstGeom prst="rect">
            <a:avLst/>
          </a:prstGeom>
          <a:solidFill>
            <a:srgbClr val="16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23176" y="1307592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Coarse-to-Fine Task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1636776"/>
            <a:ext cx="452628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162F4B"/>
                </a:solidFill>
                <a:latin typeface="Segoe UI"/>
              </a:rPr>
              <a:t>▸ </a:t>
            </a:r>
            <a:r>
              <a:rPr sz="1300">
                <a:solidFill>
                  <a:srgbClr val="0F172A"/>
                </a:solidFill>
                <a:latin typeface="Segoe UI"/>
              </a:rPr>
              <a:t>Input: 20 coarse steps at Δt_sub = 0.04 s (2× subsampled).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162F4B"/>
                </a:solidFill>
                <a:latin typeface="Segoe UI"/>
              </a:rPr>
              <a:t>▸ </a:t>
            </a:r>
            <a:r>
              <a:rPr sz="1300">
                <a:solidFill>
                  <a:srgbClr val="0F172A"/>
                </a:solidFill>
                <a:latin typeface="Segoe UI"/>
              </a:rPr>
              <a:t>Output: 40 dense future steps at native Δt = 0.02 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926080"/>
            <a:ext cx="487375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03720" y="2926080"/>
            <a:ext cx="91440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23176" y="3063240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Near-Lossless Reconstruction (1.21e-4)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3392424"/>
            <a:ext cx="452628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Matches the dense T_in = 10 baseline (1.22e-4) and sits within ΔMSE = 1.1e-5 of the 39-step native upper bound (1.10e-4).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681728"/>
            <a:ext cx="4873752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03720" y="4681728"/>
            <a:ext cx="91440" cy="16276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23176" y="4818888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Why 2× Subsampling Works Physically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5148072"/>
            <a:ext cx="4526280" cy="105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Covering a wider physical span (0.76 s vs. 0.18 s for the dense T_in = 10 baseline) provides richer phase context, with zero architectural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Segoe UI Semibold"/>
              </a:rPr>
              <a:t>09 · CHALLENGE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9184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 Semibold"/>
              </a:rPr>
              <a:t>Opening the Black Box: Multi-Head Attention Maps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777240" cy="36576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10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Ernesto Gligora &amp; Riccardo Lavorato  |  Qubit Evolution: Predicting Quantum Dynamics with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Segoe UI"/>
              </a:rPr>
              <a:t>University of Calabria · A.Y. 2025/2026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6263640" cy="2487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llenge3_cross_attention_head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342928"/>
            <a:ext cx="6117336" cy="183127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29768" y="3346704"/>
            <a:ext cx="6227064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3383280"/>
            <a:ext cx="60441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  <a:latin typeface="Segoe UI"/>
              </a:rPr>
              <a:t>M4 decoder cross-attention heatmaps across Heads 1–4 (40 future steps × 10 past steps)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822191"/>
            <a:ext cx="626364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allenge3_causal_mask_verificatio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65" y="3895344"/>
            <a:ext cx="5356469" cy="20574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025896"/>
            <a:ext cx="6227064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" y="6062472"/>
            <a:ext cx="60441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  <a:latin typeface="Segoe UI"/>
              </a:rPr>
              <a:t>Decoder lower-triangular causal mask (40 × 40) and bidirectional encoder self-attention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170432"/>
            <a:ext cx="487375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03720" y="1170432"/>
            <a:ext cx="91440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23176" y="1307592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Boundary Phase-Locking (t ∈ [−0.04, 0.00] 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6" y="1636776"/>
            <a:ext cx="452628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All 4 heads exhibit a strong recency gradient peaking at the final steps (ᾱ_k ≈ 0.16, sharpest in Heads 1 &amp; 4) to lock x(t_0) and velocity.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2926080"/>
            <a:ext cx="487375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03720" y="2926080"/>
            <a:ext cx="91440" cy="1600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23176" y="3063240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Multi-Lag Curvature &amp; Scar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3176" y="3392424"/>
            <a:ext cx="452628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Retain non-vanishing weights (ᾱ_k ≈ 0.04–0.12, broader in Heads 2 &amp; 3) across t ∈ [−0.18, −0.06] s to capture PXP revival curvature.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4681728"/>
            <a:ext cx="48737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03720" y="4681728"/>
            <a:ext cx="91440" cy="1645920"/>
          </a:xfrm>
          <a:prstGeom prst="rect">
            <a:avLst/>
          </a:prstGeom>
          <a:solidFill>
            <a:srgbClr val="16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23176" y="4818888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0B192C"/>
                </a:solidFill>
                <a:latin typeface="Segoe UI Semibold"/>
              </a:rPr>
              <a:t>Strict Causal Mask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6" y="5148072"/>
            <a:ext cx="4526280" cy="10698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Upper triangle of the 40 × 40 decoder self-attention matrix is exact zero (max_{j&gt;i} |α_ij| = 0.00), guaranteeing zero future leakage.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Segoe UI Semibold"/>
              </a:rPr>
              <a:t>10 · PHYSICAL 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9184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 Semibold"/>
              </a:rPr>
              <a:t>Blind Test Rollouts &amp; Spatial Error Disaggregation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777240" cy="36576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11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Ernesto Gligora &amp; Riccardo Lavorato  |  Qubit Evolution: Predicting Quantum Dynamics with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Segoe UI"/>
              </a:rPr>
              <a:t>University of Calabria · A.Y. 2025/2026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368503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368503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33192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192C"/>
                </a:solidFill>
                <a:latin typeface="Segoe UI Semibold"/>
              </a:rPr>
              <a:t>High-Fidelity Phase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36776"/>
            <a:ext cx="3319272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20">
                <a:solidFill>
                  <a:srgbClr val="475569"/>
                </a:solidFill>
                <a:latin typeface="Segoe UI"/>
              </a:rPr>
              <a:t>Across 5,760 blind test windows (&lt; 1 s inference), M3 tracks both magnetization revivals and two-body correlations with high phase fidelity.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143000"/>
            <a:ext cx="368503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143000"/>
            <a:ext cx="3685032" cy="822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307592"/>
            <a:ext cx="33192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192C"/>
                </a:solidFill>
                <a:latin typeface="Segoe UI Semibold"/>
              </a:rPr>
              <a:t>Uniform Spatial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636776"/>
            <a:ext cx="3319272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20">
                <a:solidFill>
                  <a:srgbClr val="475569"/>
                </a:solidFill>
                <a:latin typeface="Segoe UI"/>
              </a:rPr>
              <a:t>Single-qubit magnetization MSE is uniformly low (~3-4e-5) across the chain, smallest at the central qubits q_5, q_6; correlation error peaks at intermediate distances.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143000"/>
            <a:ext cx="368503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143000"/>
            <a:ext cx="3685032" cy="82296"/>
          </a:xfrm>
          <a:prstGeom prst="rect">
            <a:avLst/>
          </a:prstGeom>
          <a:solidFill>
            <a:srgbClr val="16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1307592"/>
            <a:ext cx="33192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192C"/>
                </a:solidFill>
                <a:latin typeface="Segoe UI Semibold"/>
              </a:rPr>
              <a:t>100% Quantum Positivity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1636776"/>
            <a:ext cx="3319272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20">
                <a:solidFill>
                  <a:srgbClr val="475569"/>
                </a:solidFill>
                <a:latin typeface="Segoe UI"/>
              </a:rPr>
              <a:t>Every test prediction satisfies two-body density-matrix positivity P(s_i, s_j) ≥ 0, with minimum probability P_min = 0.1632 &gt; 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944368"/>
            <a:ext cx="553212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test_set_live_predicti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663309"/>
            <a:ext cx="5385816" cy="1634501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29768" y="6016752"/>
            <a:ext cx="5495544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" y="6053328"/>
            <a:ext cx="53126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  <a:latin typeface="Segoe UI"/>
              </a:rPr>
              <a:t>Blind test rollouts (m_1 and c_{1,2}): Ground Truth vs. M1 RNN and M3 Transformer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944368"/>
            <a:ext cx="5559552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disaggregated_error_analysi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685448"/>
            <a:ext cx="5413248" cy="159022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36207" y="6016752"/>
            <a:ext cx="5522976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6053328"/>
            <a:ext cx="534009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  <a:latin typeface="Segoe UI"/>
              </a:rPr>
              <a:t>Disaggregated error: per-qubit magnetization MSE, pairwise c_ij matrix, and horizon drift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Segoe UI Semibold"/>
              </a:rPr>
              <a:t>11 · OUTLOOK &amp;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9184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 Semibold"/>
              </a:rPr>
              <a:t>Future Research Directions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777240" cy="365760"/>
          </a:xfrm>
          <a:prstGeom prst="roundRect">
            <a:avLst>
              <a:gd name="adj" fmla="val 4000"/>
            </a:avLst>
          </a:prstGeom>
          <a:solidFill>
            <a:srgbClr val="162F4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12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Ernesto Gligora &amp; Riccardo Lavorato  |  Qubit Evolution: Predicting Quantum Dynamics with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Segoe UI"/>
              </a:rPr>
              <a:t>University of Calabria · A.Y. 2025/2026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3685032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3685032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40817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 Semibold"/>
              </a:rPr>
              <a:t>DIRECTION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01952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50" b="1" i="0">
                <a:solidFill>
                  <a:srgbClr val="0B192C"/>
                </a:solidFill>
                <a:latin typeface="Segoe UI Semibold"/>
              </a:rPr>
              <a:t>3D Pareto Front (T_in, T_out, MSE)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" y="2606040"/>
            <a:ext cx="3392424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7784" y="2606040"/>
            <a:ext cx="91440" cy="3291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743200"/>
            <a:ext cx="3044952" cy="3044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80" b="1">
                <a:solidFill>
                  <a:srgbClr val="0D9488"/>
                </a:solidFill>
                <a:latin typeface="Segoe UI"/>
              </a:rPr>
              <a:t>▸ </a:t>
            </a:r>
            <a:r>
              <a:rPr sz="1280" b="1">
                <a:solidFill>
                  <a:srgbClr val="0F172A"/>
                </a:solidFill>
                <a:latin typeface="Segoe UI Semibold"/>
              </a:rPr>
              <a:t>Multi-Objective Optimization: </a:t>
            </a:r>
            <a:r>
              <a:rPr sz="1280">
                <a:solidFill>
                  <a:srgbClr val="0F172A"/>
                </a:solidFill>
                <a:latin typeface="Segoe UI"/>
              </a:rPr>
              <a:t>jointly minimize prediction MSE and input readout length T_in while maximizing the forecasting horizon T_out ∈ [20, 100].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80" b="1">
                <a:solidFill>
                  <a:srgbClr val="0D9488"/>
                </a:solidFill>
                <a:latin typeface="Segoe UI"/>
              </a:rPr>
              <a:t>▸ </a:t>
            </a:r>
            <a:r>
              <a:rPr sz="1280" b="1">
                <a:solidFill>
                  <a:srgbClr val="0F172A"/>
                </a:solidFill>
                <a:latin typeface="Segoe UI Semibold"/>
              </a:rPr>
              <a:t>Hardware Latency Constraints: </a:t>
            </a:r>
            <a:r>
              <a:rPr sz="1280">
                <a:solidFill>
                  <a:srgbClr val="0F172A"/>
                </a:solidFill>
                <a:latin typeface="Segoe UI"/>
              </a:rPr>
              <a:t>select operating points under realistic measurement-time budgets.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325880"/>
            <a:ext cx="3685032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51960" y="1325880"/>
            <a:ext cx="3685032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140817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 Semibold"/>
              </a:rPr>
              <a:t>DIRECTION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901952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50" b="1" i="0">
                <a:solidFill>
                  <a:srgbClr val="0B192C"/>
                </a:solidFill>
                <a:latin typeface="Segoe UI Semibold"/>
              </a:rPr>
              <a:t>Closing the Seq2Seq Exposure 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2606040"/>
            <a:ext cx="3392424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98264" y="2606040"/>
            <a:ext cx="91440" cy="3291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2743200"/>
            <a:ext cx="3044952" cy="3044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80" b="1">
                <a:solidFill>
                  <a:srgbClr val="1D4ED8"/>
                </a:solidFill>
                <a:latin typeface="Segoe UI"/>
              </a:rPr>
              <a:t>▸ </a:t>
            </a:r>
            <a:r>
              <a:rPr sz="1280" b="1">
                <a:solidFill>
                  <a:srgbClr val="0F172A"/>
                </a:solidFill>
                <a:latin typeface="Segoe UI Semibold"/>
              </a:rPr>
              <a:t>Soft Sampling &amp; Rollout Losses: </a:t>
            </a:r>
            <a:r>
              <a:rPr sz="1280">
                <a:solidFill>
                  <a:srgbClr val="0F172A"/>
                </a:solidFill>
                <a:latin typeface="Segoe UI"/>
              </a:rPr>
              <a:t>combine Gumbel-like soft sampling or multi-step rollout losses with the causal Transformer decoder (M4).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80" b="1">
                <a:solidFill>
                  <a:srgbClr val="1D4ED8"/>
                </a:solidFill>
                <a:latin typeface="Segoe UI"/>
              </a:rPr>
              <a:t>▸ </a:t>
            </a:r>
            <a:r>
              <a:rPr sz="1280" b="1">
                <a:solidFill>
                  <a:srgbClr val="0F172A"/>
                </a:solidFill>
                <a:latin typeface="Segoe UI Semibold"/>
              </a:rPr>
              <a:t>Goal: </a:t>
            </a:r>
            <a:r>
              <a:rPr sz="1280">
                <a:solidFill>
                  <a:srgbClr val="0F172A"/>
                </a:solidFill>
                <a:latin typeface="Segoe UI"/>
              </a:rPr>
              <a:t>retain explicit cross-attention interpretability while matching one-shot accuracy over long horizons.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325880"/>
            <a:ext cx="3685032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2440" y="1325880"/>
            <a:ext cx="3685032" cy="411480"/>
          </a:xfrm>
          <a:prstGeom prst="rect">
            <a:avLst/>
          </a:prstGeom>
          <a:solidFill>
            <a:srgbClr val="16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19" y="140817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 Semibold"/>
              </a:rPr>
              <a:t>DIRECTION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1901952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50" b="1" i="0">
                <a:solidFill>
                  <a:srgbClr val="0B192C"/>
                </a:solidFill>
                <a:latin typeface="Segoe UI Semibold"/>
              </a:rPr>
              <a:t>Scaling to N &gt; 10 Qubit Arrays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38744" y="2606040"/>
            <a:ext cx="3392424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38744" y="2606040"/>
            <a:ext cx="91440" cy="3291840"/>
          </a:xfrm>
          <a:prstGeom prst="rect">
            <a:avLst/>
          </a:prstGeom>
          <a:solidFill>
            <a:srgbClr val="16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200" y="2743200"/>
            <a:ext cx="3044952" cy="3044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80" b="1">
                <a:solidFill>
                  <a:srgbClr val="162F4B"/>
                </a:solidFill>
                <a:latin typeface="Segoe UI"/>
              </a:rPr>
              <a:t>▸ </a:t>
            </a:r>
            <a:r>
              <a:rPr sz="1280" b="1">
                <a:solidFill>
                  <a:srgbClr val="0F172A"/>
                </a:solidFill>
                <a:latin typeface="Segoe UI Semibold"/>
              </a:rPr>
              <a:t>Quadratic Correlation Scaling: </a:t>
            </a:r>
            <a:r>
              <a:rPr sz="1280">
                <a:solidFill>
                  <a:srgbClr val="0F172A"/>
                </a:solidFill>
                <a:latin typeface="Segoe UI"/>
              </a:rPr>
              <a:t>pairwise observables grow as D = N + N(N−1)/2.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80" b="1">
                <a:solidFill>
                  <a:srgbClr val="162F4B"/>
                </a:solidFill>
                <a:latin typeface="Segoe UI"/>
              </a:rPr>
              <a:t>▸ </a:t>
            </a:r>
            <a:r>
              <a:rPr sz="1280" b="1">
                <a:solidFill>
                  <a:srgbClr val="0F172A"/>
                </a:solidFill>
                <a:latin typeface="Segoe UI Semibold"/>
              </a:rPr>
              <a:t>Graph-Attention (GNN): </a:t>
            </a:r>
            <a:r>
              <a:rPr sz="1280">
                <a:solidFill>
                  <a:srgbClr val="0F172A"/>
                </a:solidFill>
                <a:latin typeface="Segoe UI"/>
              </a:rPr>
              <a:t>couple spatial GNNs on the Rydberg interaction graph with temporal self-attention to scale to N = 50–100 atom simulators.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148840"/>
            <a:ext cx="10058400" cy="7078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Segoe UI Semibold"/>
              </a:rPr>
              <a:t>Thank You</a:t>
            </a:r>
            <a:endParaRPr sz="4600" b="1" i="0" dirty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0120" y="3337560"/>
            <a:ext cx="38404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657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  <a:latin typeface="Segoe UI Semibold"/>
              </a:rPr>
              <a:t>Ernesto Gligora  ·  Riccardo Lavorato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187952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Artificial Intelligence and Computer Science — University of Calabria (A.Y. 2025/2026)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3460</Words>
  <Application>Microsoft Office PowerPoint</Application>
  <PresentationFormat>Widescreen</PresentationFormat>
  <Paragraphs>283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</vt:lpstr>
      <vt:lpstr>Segoe UI Semibold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ERNESTO GLIGORA</cp:lastModifiedBy>
  <cp:revision>2</cp:revision>
  <dcterms:created xsi:type="dcterms:W3CDTF">2013-01-27T09:14:16Z</dcterms:created>
  <dcterms:modified xsi:type="dcterms:W3CDTF">2026-10-28T14:03:10Z</dcterms:modified>
  <cp:category/>
</cp:coreProperties>
</file>